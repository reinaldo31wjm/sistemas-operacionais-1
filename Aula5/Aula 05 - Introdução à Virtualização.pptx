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Inter Ligh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Inter"/>
      <p:bold r:id="rId42"/>
      <p:boldItalic r:id="rId43"/>
    </p:embeddedFont>
    <p:embeddedFont>
      <p:font typeface="Corbel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6.xml"/><Relationship Id="rId42" Type="http://schemas.openxmlformats.org/officeDocument/2006/relationships/font" Target="fonts/Inter-bold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8.xml"/><Relationship Id="rId44" Type="http://schemas.openxmlformats.org/officeDocument/2006/relationships/font" Target="fonts/Corbel-regular.fntdata"/><Relationship Id="rId21" Type="http://schemas.openxmlformats.org/officeDocument/2006/relationships/slide" Target="slides/slide17.xml"/><Relationship Id="rId43" Type="http://schemas.openxmlformats.org/officeDocument/2006/relationships/font" Target="fonts/Inter-boldItalic.fntdata"/><Relationship Id="rId24" Type="http://schemas.openxmlformats.org/officeDocument/2006/relationships/slide" Target="slides/slide20.xml"/><Relationship Id="rId46" Type="http://schemas.openxmlformats.org/officeDocument/2006/relationships/font" Target="fonts/Corbel-italic.fntdata"/><Relationship Id="rId23" Type="http://schemas.openxmlformats.org/officeDocument/2006/relationships/slide" Target="slides/slide19.xml"/><Relationship Id="rId45" Type="http://schemas.openxmlformats.org/officeDocument/2006/relationships/font" Target="fonts/Corbel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slide" Target="slides/slide21.xml"/><Relationship Id="rId47" Type="http://schemas.openxmlformats.org/officeDocument/2006/relationships/font" Target="fonts/Corbel-boldItalic.fntdata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35" Type="http://schemas.openxmlformats.org/officeDocument/2006/relationships/font" Target="fonts/InterLight-bold.fntdata"/><Relationship Id="rId12" Type="http://schemas.openxmlformats.org/officeDocument/2006/relationships/slide" Target="slides/slide8.xml"/><Relationship Id="rId34" Type="http://schemas.openxmlformats.org/officeDocument/2006/relationships/font" Target="fonts/InterLight-regular.fntdata"/><Relationship Id="rId15" Type="http://schemas.openxmlformats.org/officeDocument/2006/relationships/slide" Target="slides/slide11.xml"/><Relationship Id="rId37" Type="http://schemas.openxmlformats.org/officeDocument/2006/relationships/font" Target="fonts/InterLight-boldItalic.fntdata"/><Relationship Id="rId14" Type="http://schemas.openxmlformats.org/officeDocument/2006/relationships/slide" Target="slides/slide10.xml"/><Relationship Id="rId36" Type="http://schemas.openxmlformats.org/officeDocument/2006/relationships/font" Target="fonts/InterLight-italic.fntdata"/><Relationship Id="rId17" Type="http://schemas.openxmlformats.org/officeDocument/2006/relationships/slide" Target="slides/slide13.xml"/><Relationship Id="rId39" Type="http://schemas.openxmlformats.org/officeDocument/2006/relationships/font" Target="fonts/Lato-bold.fntdata"/><Relationship Id="rId16" Type="http://schemas.openxmlformats.org/officeDocument/2006/relationships/slide" Target="slides/slide12.xml"/><Relationship Id="rId38" Type="http://schemas.openxmlformats.org/officeDocument/2006/relationships/font" Target="fonts/Lat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fda38b38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cfda38b38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cfda38b38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da38b38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da38b384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fda38b38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da38b384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da38b384_0_1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cfda38b384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9ae627a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9ae627a8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89ae627a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fda38b38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fda38b384_0_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fda38b384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da38b38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da38b384_0_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fda38b38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fda38b38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fda38b384_0_5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fda38b384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da38b384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fda38b384_0_16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fda38b384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fda38b384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fda38b384_0_1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fda38b384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da38b384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fda38b384_0_10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fda38b384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fda38b384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fda38b384_0_1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fda38b384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fda38b384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fda38b384_0_16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fda38b384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fda38b384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fda38b384_0_1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fda38b384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9b8769f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9b8769f4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b8769f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9b8769f4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9b8769f44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9b8769f44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b8769f4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9b8769f44_0_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9b8769f44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hyperlink" Target="http://tinycorelinux.net/downloads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istro.ibiblio.org/tinycorelinux/downloads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Introdução à Virtualização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Definição de Virtualização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Vantagens da Virtualização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Conceito de Máquina Virtual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que é Oracle VirtualBox?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Criando uma Máquina Virtual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 de Virtualização</a:t>
            </a:r>
            <a:endParaRPr/>
          </a:p>
        </p:txBody>
      </p:sp>
      <p:pic>
        <p:nvPicPr>
          <p:cNvPr descr="preencoded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26" y="2097378"/>
            <a:ext cx="7288782" cy="40681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8106185" y="1751325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Definição</a:t>
            </a:r>
            <a:endParaRPr b="0" i="0" sz="1783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8106185" y="2203961"/>
            <a:ext cx="3719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virtualização é uma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tecnologia que permite executar vários sistemas operacionais simultaneamente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em um único computador físico.</a:t>
            </a:r>
            <a:endParaRPr b="0" i="0" sz="1392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8106185" y="3493195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Princípio</a:t>
            </a:r>
            <a:endParaRPr b="0" i="0" sz="1783" u="none" cap="none" strike="noStrike"/>
          </a:p>
        </p:txBody>
      </p:sp>
      <p:sp>
        <p:nvSpPr>
          <p:cNvPr id="61" name="Google Shape;61;p7"/>
          <p:cNvSpPr/>
          <p:nvPr/>
        </p:nvSpPr>
        <p:spPr>
          <a:xfrm>
            <a:off x="8106185" y="3945831"/>
            <a:ext cx="3719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Cria ambientes completamente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isolados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que simulam hardware real, permitindo testes seguros sem afetar o sistema principal.</a:t>
            </a:r>
            <a:endParaRPr b="0" i="0" sz="1392" u="none" cap="none" strike="noStrike"/>
          </a:p>
        </p:txBody>
      </p:sp>
      <p:sp>
        <p:nvSpPr>
          <p:cNvPr id="62" name="Google Shape;62;p7"/>
          <p:cNvSpPr/>
          <p:nvPr/>
        </p:nvSpPr>
        <p:spPr>
          <a:xfrm>
            <a:off x="8106185" y="5235066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Aplicações</a:t>
            </a:r>
            <a:endParaRPr b="0" i="0" sz="1783" u="none" cap="none" strike="noStrike"/>
          </a:p>
        </p:txBody>
      </p:sp>
      <p:sp>
        <p:nvSpPr>
          <p:cNvPr id="63" name="Google Shape;63;p7"/>
          <p:cNvSpPr/>
          <p:nvPr/>
        </p:nvSpPr>
        <p:spPr>
          <a:xfrm>
            <a:off x="8106185" y="5687701"/>
            <a:ext cx="37194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Amplamente utilizada em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laboratórios de testes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desenvolvimento de software e ambientes de produção.</a:t>
            </a:r>
            <a:endParaRPr b="0" i="0" sz="1392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 da Virtualização</a:t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396961" y="2357276"/>
            <a:ext cx="2787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Economia de Hardware</a:t>
            </a:r>
            <a:endParaRPr b="0" i="0" sz="1923" u="none" cap="none" strike="noStrike"/>
          </a:p>
        </p:txBody>
      </p:sp>
      <p:sp>
        <p:nvSpPr>
          <p:cNvPr id="71" name="Google Shape;71;p8"/>
          <p:cNvSpPr/>
          <p:nvPr/>
        </p:nvSpPr>
        <p:spPr>
          <a:xfrm>
            <a:off x="396961" y="2785853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Reduz custos ao consolidar múltiplos servidores em uma única máquina física</a:t>
            </a:r>
            <a:endParaRPr b="0" i="0" sz="1529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6219847" y="2357276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Ambientes Isolados</a:t>
            </a:r>
            <a:endParaRPr b="0" i="0" sz="1923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6219847" y="2785853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Testes seguros sem risco de comprometer o sistema operacional principal</a:t>
            </a:r>
            <a:endParaRPr b="0" i="0" sz="1529" u="none" cap="none" strike="noStrike"/>
          </a:p>
        </p:txBody>
      </p:sp>
      <p:sp>
        <p:nvSpPr>
          <p:cNvPr id="74" name="Google Shape;74;p8"/>
          <p:cNvSpPr/>
          <p:nvPr/>
        </p:nvSpPr>
        <p:spPr>
          <a:xfrm>
            <a:off x="396961" y="4658943"/>
            <a:ext cx="2703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Facilidade para Testes</a:t>
            </a:r>
            <a:endParaRPr b="0" i="0" sz="1923" u="none" cap="none" strike="noStrike"/>
          </a:p>
        </p:txBody>
      </p:sp>
      <p:sp>
        <p:nvSpPr>
          <p:cNvPr id="75" name="Google Shape;75;p8"/>
          <p:cNvSpPr/>
          <p:nvPr/>
        </p:nvSpPr>
        <p:spPr>
          <a:xfrm>
            <a:off x="396961" y="5087522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Criação rápida de snapshots e recuperação instantânea de configurações</a:t>
            </a:r>
            <a:endParaRPr b="0" i="0" sz="1529" u="none" cap="none" strike="noStrike"/>
          </a:p>
        </p:txBody>
      </p:sp>
      <p:sp>
        <p:nvSpPr>
          <p:cNvPr id="76" name="Google Shape;76;p8"/>
          <p:cNvSpPr/>
          <p:nvPr/>
        </p:nvSpPr>
        <p:spPr>
          <a:xfrm>
            <a:off x="6219847" y="4658943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Múltiplos Sistemas</a:t>
            </a:r>
            <a:endParaRPr b="0" i="0" sz="1923" u="none" cap="none" strike="noStrike"/>
          </a:p>
        </p:txBody>
      </p:sp>
      <p:sp>
        <p:nvSpPr>
          <p:cNvPr id="77" name="Google Shape;77;p8"/>
          <p:cNvSpPr/>
          <p:nvPr/>
        </p:nvSpPr>
        <p:spPr>
          <a:xfrm>
            <a:off x="6219847" y="5087522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Execução simultânea de diferentes SOs: Windows, Linux, macOS e outros</a:t>
            </a:r>
            <a:endParaRPr b="0" i="0" sz="1529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00" y="1005375"/>
            <a:ext cx="11839575" cy="55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Hypervisor é a camada responsável por criar, executar e gerenciar máquinas virtuais.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Principais funções: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Distribuir CPU e memória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Gerenciar dispositivos virtuais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Isolar máquinas virtuais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Controlar acesso ao hardware</a:t>
            </a:r>
            <a:endParaRPr/>
          </a:p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 Hypervisor?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Máquina Virtual</a:t>
            </a:r>
            <a:endParaRPr/>
          </a:p>
        </p:txBody>
      </p:sp>
      <p:pic>
        <p:nvPicPr>
          <p:cNvPr descr="preencoded.png"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502" y="2245254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3620810" y="2466473"/>
            <a:ext cx="3624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Hospedeiro (Host)</a:t>
            </a:r>
            <a:endParaRPr b="0" i="0" sz="2150" u="none" cap="none" strike="noStrike"/>
          </a:p>
        </p:txBody>
      </p:sp>
      <p:sp>
        <p:nvSpPr>
          <p:cNvPr id="99" name="Google Shape;99;p11"/>
          <p:cNvSpPr/>
          <p:nvPr/>
        </p:nvSpPr>
        <p:spPr>
          <a:xfrm>
            <a:off x="3620810" y="2941532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operacional principal do computador físico</a:t>
            </a:r>
            <a:endParaRPr b="0" i="0" sz="1700" u="none" cap="none" strike="noStrike"/>
          </a:p>
        </p:txBody>
      </p:sp>
      <p:pic>
        <p:nvPicPr>
          <p:cNvPr descr="preencoded.png" id="100" name="Google Shape;1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8502" y="3572920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3620810" y="3794138"/>
            <a:ext cx="27663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Virtualização</a:t>
            </a:r>
            <a:endParaRPr b="0" i="0" sz="2150" u="none" cap="none" strike="noStrike"/>
          </a:p>
        </p:txBody>
      </p:sp>
      <p:sp>
        <p:nvSpPr>
          <p:cNvPr id="102" name="Google Shape;102;p11"/>
          <p:cNvSpPr/>
          <p:nvPr/>
        </p:nvSpPr>
        <p:spPr>
          <a:xfrm>
            <a:off x="3620810" y="4269198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Camada que simula hardware para o sistema convidado</a:t>
            </a:r>
            <a:endParaRPr b="0" i="0" sz="1700" u="none" cap="none" strike="noStrike"/>
          </a:p>
        </p:txBody>
      </p:sp>
      <p:pic>
        <p:nvPicPr>
          <p:cNvPr descr="preencoded.png" id="103" name="Google Shape;10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8502" y="4900586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/>
        </p:nvSpPr>
        <p:spPr>
          <a:xfrm>
            <a:off x="3620810" y="5121804"/>
            <a:ext cx="368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Convidado (Guest)</a:t>
            </a:r>
            <a:endParaRPr b="0" i="0" sz="2150" u="none" cap="none" strike="noStrike"/>
          </a:p>
        </p:txBody>
      </p:sp>
      <p:sp>
        <p:nvSpPr>
          <p:cNvPr id="105" name="Google Shape;105;p11"/>
          <p:cNvSpPr/>
          <p:nvPr/>
        </p:nvSpPr>
        <p:spPr>
          <a:xfrm>
            <a:off x="3620810" y="5596864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OS executado dentro da máquina virtual isolada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Ferramenta de virtualização desenvolvida pela Oracle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Gratuita e open-source para uso pessoal e educacional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Multiplataforma: funciona em Windows, Linux, macOS e Solaris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Amplamente utilizada em laboratórios educacionais e testes de sistemas operacionais</a:t>
            </a:r>
            <a:endParaRPr/>
          </a:p>
        </p:txBody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Oracle VirtualBox?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Interface do VirtualBox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2358600" y="1925742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2358600" y="1911676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5889200" y="1719033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6013269" y="1822443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92" u="none" cap="none" strike="noStrike"/>
          </a:p>
        </p:txBody>
      </p:sp>
      <p:sp>
        <p:nvSpPr>
          <p:cNvPr id="123" name="Google Shape;123;p13"/>
          <p:cNvSpPr/>
          <p:nvPr/>
        </p:nvSpPr>
        <p:spPr>
          <a:xfrm>
            <a:off x="2510473" y="2241934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Painel Principal</a:t>
            </a:r>
            <a:endParaRPr b="0" i="0" sz="1638" u="none" cap="none" strike="noStrike"/>
          </a:p>
        </p:txBody>
      </p:sp>
      <p:sp>
        <p:nvSpPr>
          <p:cNvPr id="124" name="Google Shape;124;p13"/>
          <p:cNvSpPr/>
          <p:nvPr/>
        </p:nvSpPr>
        <p:spPr>
          <a:xfrm>
            <a:off x="2510473" y="2540155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Lista de todas as máquinas virtuais disponíveis, com status e informações básicas</a:t>
            </a:r>
            <a:endParaRPr b="0" i="0" sz="1361" u="none" cap="none" strike="noStrike"/>
          </a:p>
        </p:txBody>
      </p:sp>
      <p:sp>
        <p:nvSpPr>
          <p:cNvPr id="125" name="Google Shape;125;p13"/>
          <p:cNvSpPr/>
          <p:nvPr/>
        </p:nvSpPr>
        <p:spPr>
          <a:xfrm>
            <a:off x="2358600" y="3172481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2358600" y="3158414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5889200" y="2965772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013269" y="3069181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92" u="none" cap="none" strike="noStrike"/>
          </a:p>
        </p:txBody>
      </p:sp>
      <p:sp>
        <p:nvSpPr>
          <p:cNvPr id="129" name="Google Shape;129;p13"/>
          <p:cNvSpPr/>
          <p:nvPr/>
        </p:nvSpPr>
        <p:spPr>
          <a:xfrm>
            <a:off x="2510473" y="3488673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Configurações</a:t>
            </a:r>
            <a:endParaRPr b="0" i="0" sz="1638" u="none" cap="none" strike="noStrike"/>
          </a:p>
        </p:txBody>
      </p:sp>
      <p:sp>
        <p:nvSpPr>
          <p:cNvPr id="130" name="Google Shape;130;p13"/>
          <p:cNvSpPr/>
          <p:nvPr/>
        </p:nvSpPr>
        <p:spPr>
          <a:xfrm>
            <a:off x="2510473" y="3786894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Painel para ajustar recursos: CPU, memória RAM, disco e dispositivos</a:t>
            </a:r>
            <a:endParaRPr b="0" i="0" sz="1361" u="none" cap="none" strike="noStrike"/>
          </a:p>
        </p:txBody>
      </p:sp>
      <p:sp>
        <p:nvSpPr>
          <p:cNvPr id="131" name="Google Shape;131;p13"/>
          <p:cNvSpPr/>
          <p:nvPr/>
        </p:nvSpPr>
        <p:spPr>
          <a:xfrm>
            <a:off x="2358600" y="4419220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2358600" y="4405153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5889200" y="4212510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6013269" y="4315920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92" u="none" cap="none" strike="noStrike"/>
          </a:p>
        </p:txBody>
      </p:sp>
      <p:sp>
        <p:nvSpPr>
          <p:cNvPr id="135" name="Google Shape;135;p13"/>
          <p:cNvSpPr/>
          <p:nvPr/>
        </p:nvSpPr>
        <p:spPr>
          <a:xfrm>
            <a:off x="2510473" y="4735412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Armazenamento</a:t>
            </a:r>
            <a:endParaRPr b="0" i="0" sz="1638" u="none" cap="none" strike="noStrike"/>
          </a:p>
        </p:txBody>
      </p:sp>
      <p:sp>
        <p:nvSpPr>
          <p:cNvPr id="136" name="Google Shape;136;p13"/>
          <p:cNvSpPr/>
          <p:nvPr/>
        </p:nvSpPr>
        <p:spPr>
          <a:xfrm>
            <a:off x="2510473" y="5033632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Gestão de discos virtuais e conexão de mídias ISO para instalação</a:t>
            </a:r>
            <a:endParaRPr b="0" i="0" sz="1361" u="none" cap="none" strike="noStrike"/>
          </a:p>
        </p:txBody>
      </p:sp>
      <p:sp>
        <p:nvSpPr>
          <p:cNvPr id="137" name="Google Shape;137;p13"/>
          <p:cNvSpPr/>
          <p:nvPr/>
        </p:nvSpPr>
        <p:spPr>
          <a:xfrm>
            <a:off x="2358600" y="5665958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2358600" y="5651892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5889200" y="5459248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6013269" y="5562658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92" u="none" cap="none" strike="noStrike"/>
          </a:p>
        </p:txBody>
      </p:sp>
      <p:sp>
        <p:nvSpPr>
          <p:cNvPr id="141" name="Google Shape;141;p13"/>
          <p:cNvSpPr/>
          <p:nvPr/>
        </p:nvSpPr>
        <p:spPr>
          <a:xfrm>
            <a:off x="2510473" y="5982150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Rede</a:t>
            </a:r>
            <a:endParaRPr b="0" i="0" sz="1638" u="none" cap="none" strike="noStrike"/>
          </a:p>
        </p:txBody>
      </p:sp>
      <p:sp>
        <p:nvSpPr>
          <p:cNvPr id="142" name="Google Shape;142;p13"/>
          <p:cNvSpPr/>
          <p:nvPr/>
        </p:nvSpPr>
        <p:spPr>
          <a:xfrm>
            <a:off x="2510473" y="6280370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Configuração de adaptadores de rede e conectividade com internet</a:t>
            </a:r>
            <a:endParaRPr b="0" i="0" sz="1361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SO - Tiny Core Linux</a:t>
            </a:r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75" y="2113100"/>
            <a:ext cx="11020425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3899538" y="6266000"/>
            <a:ext cx="439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tinycorelinux.net/downloads.html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4775"/>
            <a:ext cx="11887198" cy="571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uma Máquina Virtual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694132" y="2553451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396861" y="2355184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95077" y="314809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Novo</a:t>
            </a:r>
            <a:endParaRPr b="0" i="0" sz="1923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595077" y="3576683"/>
            <a:ext cx="52035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Clique no botão "Nova" para iniciar a criação da VM</a:t>
            </a:r>
            <a:endParaRPr b="0" i="0" sz="1529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6492333" y="2256180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195062" y="2057912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393277" y="2850828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Tipo de SO</a:t>
            </a:r>
            <a:endParaRPr b="0" i="0" sz="1923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6393277" y="3279410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Escolha o sistema operacional e versão que será instalado</a:t>
            </a:r>
            <a:endParaRPr b="0" i="0" sz="1529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694132" y="4805621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396861" y="4607353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95077" y="5400268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Memória RAM</a:t>
            </a:r>
            <a:endParaRPr b="0" i="0" sz="1923" u="none" cap="none" strike="noStrike"/>
          </a:p>
        </p:txBody>
      </p:sp>
      <p:sp>
        <p:nvSpPr>
          <p:cNvPr id="174" name="Google Shape;174;p16"/>
          <p:cNvSpPr/>
          <p:nvPr/>
        </p:nvSpPr>
        <p:spPr>
          <a:xfrm>
            <a:off x="595077" y="5828852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Defina a quantidade de memória (recomendado: 2048 MB ou mais)</a:t>
            </a:r>
            <a:endParaRPr b="0" i="0" sz="1529" u="none" cap="none" strike="noStrike"/>
          </a:p>
        </p:txBody>
      </p:sp>
      <p:sp>
        <p:nvSpPr>
          <p:cNvPr id="175" name="Google Shape;175;p16"/>
          <p:cNvSpPr/>
          <p:nvPr/>
        </p:nvSpPr>
        <p:spPr>
          <a:xfrm>
            <a:off x="6492333" y="4508349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6195062" y="4310081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6393277" y="5102997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 Virtual</a:t>
            </a:r>
            <a:endParaRPr b="0" i="0" sz="1923" u="none" cap="none" strike="noStrike"/>
          </a:p>
        </p:txBody>
      </p:sp>
      <p:sp>
        <p:nvSpPr>
          <p:cNvPr id="178" name="Google Shape;178;p16"/>
          <p:cNvSpPr/>
          <p:nvPr/>
        </p:nvSpPr>
        <p:spPr>
          <a:xfrm>
            <a:off x="6393277" y="5531580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Crie um disco virtual (VHD) com espaço suficiente (20-40 GB)</a:t>
            </a:r>
            <a:endParaRPr b="0" i="0" sz="1529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um Sistema Operacional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2139021" y="1894891"/>
            <a:ext cx="175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35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2139021" y="2170521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2139021" y="2303990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Obter ISO</a:t>
            </a:r>
            <a:endParaRPr b="0" i="0" sz="1700" u="none" cap="none" strike="noStrike"/>
          </a:p>
        </p:txBody>
      </p:sp>
      <p:sp>
        <p:nvSpPr>
          <p:cNvPr id="188" name="Google Shape;188;p17"/>
          <p:cNvSpPr/>
          <p:nvPr/>
        </p:nvSpPr>
        <p:spPr>
          <a:xfrm>
            <a:off x="2139021" y="2660225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Download do arquivo de instalação (extensão .iso) do sistema desejado</a:t>
            </a:r>
            <a:endParaRPr b="0" i="0" sz="1350" u="none" cap="none" strike="noStrike"/>
          </a:p>
        </p:txBody>
      </p:sp>
      <p:sp>
        <p:nvSpPr>
          <p:cNvPr id="189" name="Google Shape;189;p17"/>
          <p:cNvSpPr/>
          <p:nvPr/>
        </p:nvSpPr>
        <p:spPr>
          <a:xfrm>
            <a:off x="2139003" y="3177428"/>
            <a:ext cx="3945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35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2139021" y="3453062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2139021" y="3586531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Montar ISO</a:t>
            </a:r>
            <a:endParaRPr b="0" i="0" sz="1700" u="none" cap="none" strike="noStrike"/>
          </a:p>
        </p:txBody>
      </p:sp>
      <p:sp>
        <p:nvSpPr>
          <p:cNvPr id="192" name="Google Shape;192;p17"/>
          <p:cNvSpPr/>
          <p:nvPr/>
        </p:nvSpPr>
        <p:spPr>
          <a:xfrm>
            <a:off x="2139021" y="3942766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 configurações de armazenamento, adicione o arquivo ISO como drive</a:t>
            </a:r>
            <a:endParaRPr b="0" i="0" sz="1350" u="none" cap="none" strike="noStrike"/>
          </a:p>
        </p:txBody>
      </p:sp>
      <p:sp>
        <p:nvSpPr>
          <p:cNvPr id="193" name="Google Shape;193;p17"/>
          <p:cNvSpPr/>
          <p:nvPr/>
        </p:nvSpPr>
        <p:spPr>
          <a:xfrm>
            <a:off x="2138999" y="4459975"/>
            <a:ext cx="47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350" u="none" cap="none" strike="noStrike"/>
          </a:p>
        </p:txBody>
      </p:sp>
      <p:sp>
        <p:nvSpPr>
          <p:cNvPr id="194" name="Google Shape;194;p17"/>
          <p:cNvSpPr/>
          <p:nvPr/>
        </p:nvSpPr>
        <p:spPr>
          <a:xfrm>
            <a:off x="2139021" y="4735603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2139021" y="4869072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Iniciar VM</a:t>
            </a:r>
            <a:endParaRPr b="0" i="0" sz="1700" u="none" cap="none" strike="noStrike"/>
          </a:p>
        </p:txBody>
      </p:sp>
      <p:sp>
        <p:nvSpPr>
          <p:cNvPr id="196" name="Google Shape;196;p17"/>
          <p:cNvSpPr/>
          <p:nvPr/>
        </p:nvSpPr>
        <p:spPr>
          <a:xfrm>
            <a:off x="2139021" y="5225307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Clique em "Iniciar" para bootar a máquina virtual do disco virtual</a:t>
            </a:r>
            <a:endParaRPr b="0" i="0" sz="1350" u="none" cap="none" strike="noStrike"/>
          </a:p>
        </p:txBody>
      </p:sp>
      <p:sp>
        <p:nvSpPr>
          <p:cNvPr id="197" name="Google Shape;197;p17"/>
          <p:cNvSpPr/>
          <p:nvPr/>
        </p:nvSpPr>
        <p:spPr>
          <a:xfrm>
            <a:off x="2138984" y="5742525"/>
            <a:ext cx="79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b="0" i="0" sz="1350" u="none" cap="none" strike="noStrike"/>
          </a:p>
        </p:txBody>
      </p:sp>
      <p:sp>
        <p:nvSpPr>
          <p:cNvPr id="198" name="Google Shape;198;p17"/>
          <p:cNvSpPr/>
          <p:nvPr/>
        </p:nvSpPr>
        <p:spPr>
          <a:xfrm>
            <a:off x="2139021" y="6018144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2139021" y="6151613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Instalação</a:t>
            </a:r>
            <a:endParaRPr b="0" i="0" sz="1700" u="none" cap="none" strike="noStrike"/>
          </a:p>
        </p:txBody>
      </p:sp>
      <p:sp>
        <p:nvSpPr>
          <p:cNvPr id="200" name="Google Shape;200;p17"/>
          <p:cNvSpPr/>
          <p:nvPr/>
        </p:nvSpPr>
        <p:spPr>
          <a:xfrm>
            <a:off x="2139021" y="6507848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Siga o processo de instalação normal do sistema operacional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8"/>
          <p:cNvPicPr preferRelativeResize="0"/>
          <p:nvPr/>
        </p:nvPicPr>
        <p:blipFill rotWithShape="1">
          <a:blip r:embed="rId3">
            <a:alphaModFix/>
          </a:blip>
          <a:srcRect b="5210" l="0" r="0" t="15858"/>
          <a:stretch/>
        </p:blipFill>
        <p:spPr>
          <a:xfrm>
            <a:off x="228600" y="1680875"/>
            <a:ext cx="11734800" cy="47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Distribuição Linux extremamente leve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ISO entre 17 MB e 248 MB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Ideal para testes, virtualização e sistemas personalizados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Sistema modular e personalizável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Focado em desempenho, simplicidade e baixo consumo de recursos</a:t>
            </a:r>
            <a:endParaRPr/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SO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Tiny Core Linux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700"/>
              <a:t>Na próxima aula, 14/09/2026, serão realizadas as apresentações sobre sistemas operacionais virtualizados. Cada grupo deverá realizar uma apresentação com duração entre 10 e 15 minutos, abordando o sistema operacional escolhido e destacando aspectos como suas principais características e recursos, histórico e origem, evolução, derivações ou distribuições, aplicativos e ferramentas disponíveis, principais aplicações e casos de uso, vantagens e limitações, além de outras informações relevantes. </a:t>
            </a:r>
            <a:endParaRPr sz="2700"/>
          </a:p>
        </p:txBody>
      </p:sp>
      <p:sp>
        <p:nvSpPr>
          <p:cNvPr id="220" name="Google Shape;220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grupos A, B e C realizarão as apresentações das 9h30 às 11h10, enquanto os grupos D, E e F apresentarão das 11h20 às 13h00. Cada integrante deverá participar da apresentação, contribuindo para o desenvolvimento e exposição do conteúdo do grupo. Sugestão: Se possível, trazer notebook pessoal.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  <p:pic>
        <p:nvPicPr>
          <p:cNvPr id="234" name="Google Shape;234;p22" title="Gru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075" y="1806525"/>
            <a:ext cx="7111850" cy="46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40" name="Google Shape;240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Instale o Oracle VirtualBox em seu computador, crie uma máquina virtual usando os passos aprendidos Instale um Linux leve (ex: Tiny Core, Lubuntu ou Xubuntu) Teste o sistema virtualizado e explore suas funcionalidades;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2. Por fim, documente o processo na forma de Manual e salve no repositório da disciplina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7" name="Google Shape;247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Introdução à Virtualização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254" name="Google Shape;254;p2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